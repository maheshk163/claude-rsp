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I'm going to walk you through a significant infrastructure improvement — migrating our Oracle database backups from a legacy NFS setup to Cohesity. This isn't just a technology upgrade. It's a compliance resolution.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interconnected problems drove this project. First: backups not immutable — ransomware or a compromised account could delete them. Second: 8–12 hour windows hitting production. Third: no central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WORM snapshots are the critical change. Not even a rogue admin account can touch them. Everything else — incremental forever, dedup, unified dashboard — comes as a platform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capabilities: teal = compliance, green = performance, gold = operations. Immutability was the must-have; everything else is a platform bonus.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playing: tell the audience to watch for Protection Group setup, WORM policy config, the Helios monitoring view, and the recovery workflow near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hard numbers. Bar height = relative magnitude — so the contrast is visual and instant.
Orange bars = Legacy. Blue bars = Cohesity.
Data Protection: the orange bar shows full vulnerability exposure. The blue shows near-zero — a small WORM-locked pill. Backup Window: 85% reduction. Storage: 3:1 data reduction ratio. Network: only changed blocks transit after the initial sync. Fill in your actual measured numbers for backup window and storage reduction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went from reactive to proactive. The AI anomaly detection watches for ransomware behavior — sudden large-scale encryption — not just backup failures. REST API feeds naturally into Splunk with no new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honesty builds credibility. Agent permissions: always underestimate security coordination time. RMAN catalog: clear ownership definition solved it. Baseline bandwidth: throttle it, don't rush. Script decommissioning: the most underestimated task — audit everything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compliance problem solved, and we got a faster, smarter, more automated platform along the way. Three next steps already sequenced.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365760"/>
            <a:ext cx="3200400" cy="32004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MODERNIZATION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Modernizing Oracle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Backups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Cohesity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Vulnerable Legacy Scripts → Immutable, Compliant, Automated Protection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[Date]  ·  10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Legacy Setup Was a 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50876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IMMUTABLE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" y="2670048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files on NFS can be modified, deleted, or encrypted by ransomware.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every modern compliance audit.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32588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0876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WINDOWS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502152" y="2670048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RMAN backups run for 8–12+ hours. Severe CPU &amp; I/O spikes hit production during business hours.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355080" y="132588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50876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92240" y="2286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519672" y="2670048"/>
            <a:ext cx="2423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dashboard. Teams manually parse cron emails and scattered text logs across multiple servers.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20040" y="4617720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E63946">
              <a:alpha val="18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COMPLIANCE RISK: Historical backups are alterable — we are exposed to regulatory audit failure.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CONTRAST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vs. After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1A2D42"/>
          </a:solidFill>
          <a:ln w="12700">
            <a:solidFill>
              <a:srgbClr val="E63946">
                <a:alpha val="6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Legacy RMAN + NFS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cron bash scripts trigger nightly RMAN backup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backup pieces written over network to NFS mount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 backed by standard Pure Storage volume (no WORM)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deduplication or compression across databases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= manually locate pieces, pull full data back over network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= parse scattered text logs &amp; cron emails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2606040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92040" y="1188720"/>
            <a:ext cx="3931920" cy="3520440"/>
          </a:xfrm>
          <a:prstGeom prst="roundRect">
            <a:avLst>
              <a:gd name="adj" fmla="val 2597"/>
            </a:avLst>
          </a:prstGeom>
          <a:solidFill>
            <a:srgbClr val="1A2D42"/>
          </a:solidFill>
          <a:ln w="12700">
            <a:solidFill>
              <a:srgbClr val="2DC653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0" y="1298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—  Cohesity + RMAN Native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 Agent + Remote Adapter: native RMAN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Forever — only changed blocks after initial sync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immutable snapshots — no one can alter or delete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inline deduplication + compression across all DBs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 recovery — data stays local, no full re-pull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Helios dashboard — real-time alerts,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Cohesity Delivers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37160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Immutability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" y="18105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SnapLock technology. Snapshots cannot be modified, deleted, or encrypted — by anyone.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36392" y="1170432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137160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30752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RMAN Integration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00984" y="18105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 Agent supports standalone, RAC, and ASM. Zero custom scripting required.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52744" y="1170432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13716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47104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Forever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17336" y="1810512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changed data blocks move after the initial baseline. No more full backup windows.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20040" y="306324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26440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4400" y="3264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Reduction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84632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variable-length dedup + compression across all Oracle environments.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136392" y="306324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326440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30752" y="3264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Control Plane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300984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schedules, retention, and alerts in one Helios web dashboard.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52744" y="3063240"/>
            <a:ext cx="2633472" cy="1664208"/>
          </a:xfrm>
          <a:prstGeom prst="roundRect">
            <a:avLst>
              <a:gd name="adj" fmla="val 5495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336" y="3264408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547104" y="32644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117336" y="37033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 tracks data change patterns. Sudden encryption spikes trigger instant alerts.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71800" y="77724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254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520440" y="1325880"/>
            <a:ext cx="2103120" cy="2103120"/>
          </a:xfrm>
          <a:prstGeom prst="ellipse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977640" y="18288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</a:rPr>
              <a:t>▶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Walkthrough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6634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for: Protection Group setup · Policy configuration · Monitoring dashboard · Recovery workflow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0" y="502920"/>
            <a:ext cx="4572000" cy="347472"/>
          </a:xfrm>
          <a:prstGeom prst="roundRect">
            <a:avLst>
              <a:gd name="adj" fmla="val 21053"/>
            </a:avLst>
          </a:prstGeom>
          <a:solidFill>
            <a:srgbClr val="1A2D42"/>
          </a:solidFill>
          <a:ln w="12700">
            <a:solidFill>
              <a:srgbClr val="00B4D8">
                <a:alpha val="4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530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Insert your screen recording here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3931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&amp; Compliance Improvements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760720" y="804672"/>
            <a:ext cx="3017520" cy="566928"/>
          </a:xfrm>
          <a:prstGeom prst="roundRect">
            <a:avLst>
              <a:gd name="adj" fmla="val 12903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88736" y="914400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F4820A"/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44768" y="8961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 =  Legacy (old method)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88736" y="1124712"/>
            <a:ext cx="201168" cy="155448"/>
          </a:xfrm>
          <a:prstGeom prst="roundRect">
            <a:avLst>
              <a:gd name="adj" fmla="val 17647"/>
            </a:avLst>
          </a:prstGeom>
          <a:solidFill>
            <a:srgbClr val="4C9BE8"/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44768" y="1106424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 =  Cohesity (new method)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" y="148132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" y="1481328"/>
            <a:ext cx="2724912" cy="41148"/>
          </a:xfrm>
          <a:prstGeom prst="rect">
            <a:avLst/>
          </a:prstGeom>
          <a:solidFill>
            <a:srgbClr val="4C9BE8">
              <a:alpha val="6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1828800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9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4C9B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00784" y="2926080"/>
            <a:ext cx="1243584" cy="20117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46504" y="1865376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12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865376"/>
            <a:ext cx="475488" cy="640080"/>
          </a:xfrm>
          <a:prstGeom prst="roundRect">
            <a:avLst>
              <a:gd name="adj" fmla="val 7692"/>
            </a:avLst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46504" y="2286000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46504" y="23317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423160" y="2688336"/>
            <a:ext cx="475488" cy="237744"/>
          </a:xfrm>
          <a:prstGeom prst="roundRect">
            <a:avLst>
              <a:gd name="adj" fmla="val 15385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68833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✓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50008" y="29718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18104" y="148132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18104" y="1481328"/>
            <a:ext cx="2724912" cy="41148"/>
          </a:xfrm>
          <a:prstGeom prst="rect">
            <a:avLst/>
          </a:prstGeom>
          <a:solidFill>
            <a:srgbClr val="00B4D8">
              <a:alpha val="6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Window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9544" y="1828800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−85%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517136" y="2926080"/>
            <a:ext cx="1243584" cy="20117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62856" y="1865376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12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9512" y="1865376"/>
            <a:ext cx="475488" cy="640080"/>
          </a:xfrm>
          <a:prstGeom prst="roundRect">
            <a:avLst>
              <a:gd name="adj" fmla="val 7692"/>
            </a:avLst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62856" y="2286000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62856" y="23317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hrs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39512" y="2830068"/>
            <a:ext cx="475488" cy="96012"/>
          </a:xfrm>
          <a:prstGeom prst="roundRect">
            <a:avLst>
              <a:gd name="adj" fmla="val 38095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9718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34456" y="1481328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34456" y="1481328"/>
            <a:ext cx="2724912" cy="41148"/>
          </a:xfrm>
          <a:prstGeom prst="rect">
            <a:avLst/>
          </a:prstGeom>
          <a:solidFill>
            <a:srgbClr val="00B4D8">
              <a:alpha val="6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07608" y="157276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(RTO)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25896" y="1828800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333488" y="2926080"/>
            <a:ext cx="1243584" cy="20117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79208" y="1865376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12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55864" y="1865376"/>
            <a:ext cx="475488" cy="640080"/>
          </a:xfrm>
          <a:prstGeom prst="roundRect">
            <a:avLst>
              <a:gd name="adj" fmla="val 7692"/>
            </a:avLst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79208" y="2286000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79208" y="233172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Hrs–Days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55864" y="2834640"/>
            <a:ext cx="475488" cy="91440"/>
          </a:xfrm>
          <a:prstGeom prst="roundRect">
            <a:avLst>
              <a:gd name="adj" fmla="val 40000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82712" y="297180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Near-instant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01752" y="3291840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01752" y="3291840"/>
            <a:ext cx="2724912" cy="41148"/>
          </a:xfrm>
          <a:prstGeom prst="rect">
            <a:avLst/>
          </a:prstGeom>
          <a:solidFill>
            <a:srgbClr val="FFB703">
              <a:alpha val="6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33832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Savings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93192" y="363931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3:1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700784" y="4736592"/>
            <a:ext cx="1243584" cy="20117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46504" y="3675888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12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23160" y="3675888"/>
            <a:ext cx="475488" cy="640080"/>
          </a:xfrm>
          <a:prstGeom prst="roundRect">
            <a:avLst>
              <a:gd name="adj" fmla="val 7692"/>
            </a:avLst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46504" y="4096512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746504" y="414223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Raw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423160" y="4525366"/>
            <a:ext cx="475488" cy="211226"/>
          </a:xfrm>
          <a:prstGeom prst="roundRect">
            <a:avLst>
              <a:gd name="adj" fmla="val 17316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50008" y="47823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18104" y="3291840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18104" y="3291840"/>
            <a:ext cx="2724912" cy="41148"/>
          </a:xfrm>
          <a:prstGeom prst="rect">
            <a:avLst/>
          </a:prstGeom>
          <a:solidFill>
            <a:srgbClr val="FFB703">
              <a:alpha val="6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91256" y="33832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Traffic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209544" y="363931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−70%+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4517136" y="4736592"/>
            <a:ext cx="1243584" cy="20117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62856" y="3675888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12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239512" y="3675888"/>
            <a:ext cx="475488" cy="640080"/>
          </a:xfrm>
          <a:prstGeom prst="roundRect">
            <a:avLst>
              <a:gd name="adj" fmla="val 7692"/>
            </a:avLst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62856" y="4096512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62856" y="414223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239512" y="4544568"/>
            <a:ext cx="475488" cy="192024"/>
          </a:xfrm>
          <a:prstGeom prst="roundRect">
            <a:avLst>
              <a:gd name="adj" fmla="val 19048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66360" y="47823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blocks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34456" y="3291840"/>
            <a:ext cx="2724912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5934456" y="3291840"/>
            <a:ext cx="2724912" cy="41148"/>
          </a:xfrm>
          <a:prstGeom prst="rect">
            <a:avLst/>
          </a:prstGeom>
          <a:solidFill>
            <a:srgbClr val="00B4D8">
              <a:alpha val="6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07608" y="338328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Mgmt. Effort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025896" y="363931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Saved/wk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7333488" y="4736592"/>
            <a:ext cx="1243584" cy="20117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379208" y="3675888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12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55864" y="3675888"/>
            <a:ext cx="475488" cy="640080"/>
          </a:xfrm>
          <a:prstGeom prst="roundRect">
            <a:avLst>
              <a:gd name="adj" fmla="val 7692"/>
            </a:avLst>
          </a:prstGeom>
          <a:solidFill>
            <a:srgbClr val="4C9BE8">
              <a:alpha val="12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79208" y="4096512"/>
            <a:ext cx="475488" cy="640080"/>
          </a:xfrm>
          <a:prstGeom prst="roundRect">
            <a:avLst>
              <a:gd name="adj" fmla="val 7692"/>
            </a:avLst>
          </a:prstGeom>
          <a:solidFill>
            <a:srgbClr val="F4820A">
              <a:alpha val="95000"/>
            </a:srgbClr>
          </a:solidFill>
          <a:ln w="12700">
            <a:solidFill>
              <a:srgbClr val="F4820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79208" y="414223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055864" y="4645152"/>
            <a:ext cx="475488" cy="91440"/>
          </a:xfrm>
          <a:prstGeom prst="roundRect">
            <a:avLst>
              <a:gd name="adj" fmla="val 40000"/>
            </a:avLst>
          </a:prstGeom>
          <a:solidFill>
            <a:srgbClr val="4C9BE8">
              <a:alpha val="95000"/>
            </a:srgbClr>
          </a:solidFill>
          <a:ln w="12700">
            <a:solidFill>
              <a:srgbClr val="4C9B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982712" y="47823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9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Observability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80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Pane of Glass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09344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physical clusters, virtual nodes, and Oracle targets monitored globally via Cohesity Helios. No more server-hopping.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0040" y="2450592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7063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5420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Alerting Engine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97280" y="2871216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email, webhook &amp; SNMP alerts fire on policy failures or storage threshold breaches — before anyone notices.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0040" y="3712464"/>
            <a:ext cx="4846320" cy="1097280"/>
          </a:xfrm>
          <a:prstGeom prst="roundRect">
            <a:avLst>
              <a:gd name="adj" fmla="val 8333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32504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8039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Anomaly Detection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97280" y="4133088"/>
            <a:ext cx="3886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 flags sudden encryption spikes or abnormal data growth (ransomware signatures) in real time.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349240" y="118872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A2D42"/>
          </a:solidFill>
          <a:ln w="12700">
            <a:solidFill>
              <a:srgbClr val="00B4D8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486400" y="1298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Architecture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0" y="1664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REST API exports monitoring data into your existing toolset: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0" y="208483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(SIEM)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(ITSM)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webhooks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SNMP / Email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349240" y="3154680"/>
            <a:ext cx="3474720" cy="1536192"/>
          </a:xfrm>
          <a:prstGeom prst="roundRect">
            <a:avLst>
              <a:gd name="adj" fmla="val 5952"/>
            </a:avLst>
          </a:prstGeom>
          <a:solidFill>
            <a:srgbClr val="1A2D42"/>
          </a:solidFill>
          <a:ln w="12700">
            <a:solidFill>
              <a:srgbClr val="FFB703">
                <a:alpha val="50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5486400" y="32644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0" y="363931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access, configuration change, and recovery action is logged in a tamper-proof trail. Maps exactly who did what — critical for compliance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HONESTY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Challenges We Solved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353312"/>
            <a:ext cx="438912" cy="438912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1353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Permissions &amp; Firewalls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828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OS environments had tight sudo restrictions and non-standard port configurations. Resolved by coordinating with security team to scope minimum-privilege agent permissions and open required Cohesity ports in firewall rules.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170432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353312"/>
            <a:ext cx="438912" cy="438912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3533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85232" y="1353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RMAN Catalog Synchronization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36592" y="182880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Cohesity's automated scheduler conflicted with metadata in our pre-existing RMAN recovery catalogs. Fixed by resync procedures and establishing catalog ownership rules — Cohesity as the scheduler of record.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06324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" y="3246120"/>
            <a:ext cx="438912" cy="438912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3272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Bandwidth During Baseline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7216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full-sync baseline for multi-TB databases generated significant traffic, competing with production. Resolved via Cohesity's bandwidth throttling policies, moving large syncs to maintenance windows.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063240"/>
            <a:ext cx="4069080" cy="1719072"/>
          </a:xfrm>
          <a:prstGeom prst="roundRect">
            <a:avLst>
              <a:gd name="adj" fmla="val 5319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3246120"/>
            <a:ext cx="438912" cy="438912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246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85232" y="32461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Script Decommissioning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3721608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cron-based RMAN scripts across multiple servers required systematic auditing. Mapped every script, validated Cohesity coverage, then decommissioned in stages — no cliff-edge cutover.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00B4D8">
              <a:alpha val="9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Achieved. Where We Go Next.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868680"/>
          </a:xfrm>
          <a:prstGeom prst="roundRect">
            <a:avLst>
              <a:gd name="adj" fmla="val 10526"/>
            </a:avLst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45000"/>
              </a:srgbClr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0700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Oracle database backups are now 100% immutable, audit-compliant, ransomware-resistant, and fully automated — with near-instant recovery and a unified operations dashboard.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20040" y="2176272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2304288"/>
            <a:ext cx="594360" cy="59436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Protection Groups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4632" y="354787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all remaining secondary and dev Oracle environments into automated Cohesity workflows.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176272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2304288"/>
            <a:ext cx="594360" cy="594360"/>
          </a:xfrm>
          <a:prstGeom prst="ellipse">
            <a:avLst/>
          </a:prstGeom>
          <a:solidFill>
            <a:srgbClr val="48CAE4">
              <a:alpha val="85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Self-Service Cloning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64992" y="354787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dev &amp; QA teams to spin up zero-cost multi-TB database clones instantly via API — no extra storage consumed.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176272"/>
            <a:ext cx="2697480" cy="2560320"/>
          </a:xfrm>
          <a:prstGeom prst="roundRect">
            <a:avLst>
              <a:gd name="adj" fmla="val 4286"/>
            </a:avLst>
          </a:prstGeom>
          <a:solidFill>
            <a:srgbClr val="1A2D42"/>
          </a:solidFill>
          <a:ln w="12700">
            <a:solidFill>
              <a:srgbClr val="243B55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304288"/>
            <a:ext cx="594360" cy="594360"/>
          </a:xfrm>
          <a:prstGeom prst="ellipse">
            <a:avLst/>
          </a:prstGeom>
          <a:solidFill>
            <a:srgbClr val="FFB703">
              <a:alpha val="8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23042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99923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Cloud Archival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45352" y="3547872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tamper-proof long-term legal retention rules with automated tiering to cloud archive storage.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Oracle Database Backups with Cohesity</dc:title>
  <dc:subject>PptxGenJS Presentation</dc:subject>
  <dc:creator>PptxGenJS</dc:creator>
  <cp:lastModifiedBy>PptxGenJS</cp:lastModifiedBy>
  <cp:revision>1</cp:revision>
  <dcterms:created xsi:type="dcterms:W3CDTF">2026-06-25T21:45:59Z</dcterms:created>
  <dcterms:modified xsi:type="dcterms:W3CDTF">2026-06-25T21:45:59Z</dcterms:modified>
</cp:coreProperties>
</file>