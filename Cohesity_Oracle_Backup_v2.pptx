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 COMPLETE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Cohesity Oracle Backup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Modernization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NFS Legacy Backups to Immutable, Intelligent Data Protection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F5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</a:rPr>
              <a:t>IMMUTABILITY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Ransomware Protection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84048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F5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840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</a:rPr>
              <a:t>DAILY FULLS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Hydrated Snapshots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84048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1A2F5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40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</a:rPr>
              <a:t>REDUCED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Dedup + Compression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Team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NFS Backup Limitations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Immutability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mount backups offered no write-once protection. Ransomware or rogue processes could delete or corrupt backup data — leaving Oracle DBs with no safe recovery point.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8968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Waste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83480" y="1691640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deduplication or compression at the storage layer. Every weekly full backup consumed raw capacity, inflating storage costs with no efficiency gains.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29718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136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Backup Window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3566160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full backups ran for multiple days, straining I/O resources and leaving a dangerously large recovery point objective (RPO) gap between backups.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00600" y="29718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58968" y="3136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Granular Recovery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83480" y="3566160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monolithic backup sets made granular recovery slow and complex. No hydrated snapshot meant full restores were required even for small data recovery tasks.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These gaps created critical risk exposure for Oracle database environments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Cohesity DataProtect Agent — Oracle Implementation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F5E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618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801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1762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DataProtect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Host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063240" y="1847088"/>
            <a:ext cx="21945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143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F5E"/>
          </a:solidFill>
          <a:ln w="25400">
            <a:solidFill>
              <a:srgbClr val="05966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618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801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 Cluster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21762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Incremental-Forever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Policy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989320" y="1847088"/>
            <a:ext cx="21945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A2F5E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6187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801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Hydrated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Snapshot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21762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· Deduplicated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Compressed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65760" y="27432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A2F5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2852928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Backups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5488" y="3218688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WORM-protected storage. Backups cannot be deleted, modified, or encrypted by ransomware during the retention period.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542032" y="27432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A2F5E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06624" y="2852928"/>
            <a:ext cx="164592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542032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Forever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2651760" y="3218688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blocks are transferred daily. Cohesity synthesizes a full hydrated copy every day — no weekly full needed.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718304" y="27432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A2F5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82896" y="285292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18304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Dedup &amp; Compress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828032" y="3218688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variable-length deduplication plus LZ4 compression applied at ingest — dramatically reducing physical storage footprint.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894576" y="27432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1A2F5E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059168" y="2852928"/>
            <a:ext cx="164592" cy="1645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94576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Recovery Ready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7004304" y="3218688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daily snapshot is immediately mountable for granular file, tablespace, or full DB recovery without data movement.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Data Center Deployment — DCW &amp; DCN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0" y="1024128"/>
            <a:ext cx="3291840" cy="621792"/>
          </a:xfrm>
          <a:prstGeom prst="roundRect">
            <a:avLst>
              <a:gd name="adj" fmla="val 14706"/>
            </a:avLst>
          </a:prstGeom>
          <a:solidFill>
            <a:srgbClr val="0F4C75"/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097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10515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— Cohesity Managed SaaS
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Reporting &amp; Metrics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572768" y="1325880"/>
            <a:ext cx="1353312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234440" y="12527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217920" y="1325880"/>
            <a:ext cx="13258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7132320" y="12527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56032" y="1719072"/>
            <a:ext cx="4069080" cy="3246120"/>
          </a:xfrm>
          <a:prstGeom prst="roundRect">
            <a:avLst>
              <a:gd name="adj" fmla="val 3944"/>
            </a:avLst>
          </a:prstGeom>
          <a:solidFill>
            <a:srgbClr val="0D1F40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0624" y="2121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0C3060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2700000">
              <a:srgbClr val="F59E0B">
                <a:alpha val="3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6032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29443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Servers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3227832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32278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Running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2066544" y="2542032"/>
            <a:ext cx="1078992" cy="960120"/>
          </a:xfrm>
          <a:prstGeom prst="roundRect">
            <a:avLst>
              <a:gd name="adj" fmla="val 7619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61518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66544" y="29260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2203704" y="33009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650" dirty="0"/>
          </a:p>
        </p:txBody>
      </p:sp>
      <p:sp>
        <p:nvSpPr>
          <p:cNvPr id="24" name="Shape 19"/>
          <p:cNvSpPr/>
          <p:nvPr/>
        </p:nvSpPr>
        <p:spPr>
          <a:xfrm>
            <a:off x="3200400" y="2542032"/>
            <a:ext cx="914400" cy="960120"/>
          </a:xfrm>
          <a:prstGeom prst="roundRect">
            <a:avLst>
              <a:gd name="adj" fmla="val 8000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61518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200400" y="2944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ESXi VMs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3255264" y="32552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6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13632"/>
            <a:ext cx="256032" cy="25603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77240" y="3803904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77240" y="3803904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31" name="Shape 24"/>
          <p:cNvSpPr/>
          <p:nvPr/>
        </p:nvSpPr>
        <p:spPr>
          <a:xfrm>
            <a:off x="777240" y="3936492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C6080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77240" y="3936492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33" name="Shape 26"/>
          <p:cNvSpPr/>
          <p:nvPr/>
        </p:nvSpPr>
        <p:spPr>
          <a:xfrm>
            <a:off x="777240" y="4069080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77240" y="406908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35" name="Shape 28"/>
          <p:cNvSpPr/>
          <p:nvPr/>
        </p:nvSpPr>
        <p:spPr>
          <a:xfrm>
            <a:off x="777240" y="4201668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C6080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77240" y="4201668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37" name="Shape 30"/>
          <p:cNvSpPr/>
          <p:nvPr/>
        </p:nvSpPr>
        <p:spPr>
          <a:xfrm>
            <a:off x="777240" y="4334256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77240" y="4334256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39" name="Shape 32"/>
          <p:cNvSpPr/>
          <p:nvPr/>
        </p:nvSpPr>
        <p:spPr>
          <a:xfrm>
            <a:off x="777240" y="4466844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C6080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77240" y="4466844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41" name="Text 34"/>
          <p:cNvSpPr/>
          <p:nvPr/>
        </p:nvSpPr>
        <p:spPr>
          <a:xfrm>
            <a:off x="777240" y="4626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Cohesity Hardware Cluster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777240" y="4828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6-Node Cluster  ·  Immutable Storage</a:t>
            </a:r>
            <a:endParaRPr lang="en-US" sz="700" dirty="0"/>
          </a:p>
        </p:txBody>
      </p:sp>
      <p:sp>
        <p:nvSpPr>
          <p:cNvPr id="43" name="Shape 36"/>
          <p:cNvSpPr/>
          <p:nvPr/>
        </p:nvSpPr>
        <p:spPr>
          <a:xfrm>
            <a:off x="1161288" y="3611880"/>
            <a:ext cx="0" cy="71323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47472" y="3858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restore</a:t>
            </a:r>
            <a:endParaRPr lang="en-US" sz="650" dirty="0"/>
          </a:p>
        </p:txBody>
      </p:sp>
      <p:sp>
        <p:nvSpPr>
          <p:cNvPr id="45" name="Shape 38"/>
          <p:cNvSpPr/>
          <p:nvPr/>
        </p:nvSpPr>
        <p:spPr>
          <a:xfrm>
            <a:off x="2569464" y="3502152"/>
            <a:ext cx="0" cy="86868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46" name="Shape 39"/>
          <p:cNvSpPr/>
          <p:nvPr/>
        </p:nvSpPr>
        <p:spPr>
          <a:xfrm>
            <a:off x="3657600" y="3502152"/>
            <a:ext cx="0" cy="86868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4416552"/>
            <a:ext cx="457200" cy="36576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3456432" y="47640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49" name="Shape 41"/>
          <p:cNvSpPr/>
          <p:nvPr/>
        </p:nvSpPr>
        <p:spPr>
          <a:xfrm>
            <a:off x="3456432" y="4325112"/>
            <a:ext cx="-594360" cy="3840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ysDot"/>
          </a:ln>
        </p:spPr>
      </p:sp>
      <p:sp>
        <p:nvSpPr>
          <p:cNvPr id="50" name="Shape 42"/>
          <p:cNvSpPr/>
          <p:nvPr/>
        </p:nvSpPr>
        <p:spPr>
          <a:xfrm>
            <a:off x="4818888" y="1719072"/>
            <a:ext cx="4069080" cy="3246120"/>
          </a:xfrm>
          <a:prstGeom prst="roundRect">
            <a:avLst>
              <a:gd name="adj" fmla="val 3944"/>
            </a:avLst>
          </a:prstGeom>
          <a:solidFill>
            <a:srgbClr val="0D1F40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4983480" y="18105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DCN</a:t>
            </a:r>
            <a:endParaRPr lang="en-US" sz="1600" dirty="0"/>
          </a:p>
        </p:txBody>
      </p:sp>
      <p:sp>
        <p:nvSpPr>
          <p:cNvPr id="52" name="Text 44"/>
          <p:cNvSpPr/>
          <p:nvPr/>
        </p:nvSpPr>
        <p:spPr>
          <a:xfrm>
            <a:off x="4983480" y="2121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Managed</a:t>
            </a:r>
            <a:endParaRPr lang="en-US" sz="750" dirty="0"/>
          </a:p>
        </p:txBody>
      </p:sp>
      <p:sp>
        <p:nvSpPr>
          <p:cNvPr id="53" name="Shape 45"/>
          <p:cNvSpPr/>
          <p:nvPr/>
        </p:nvSpPr>
        <p:spPr>
          <a:xfrm>
            <a:off x="5020056" y="246888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0C3060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2700000">
              <a:srgbClr val="F59E0B">
                <a:alpha val="30000"/>
              </a:srgbClr>
            </a:outerShdw>
          </a:effectLst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976" y="2560320"/>
            <a:ext cx="384048" cy="38404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5020056" y="29443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Servers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5111496" y="3227832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5111496" y="32278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Running</a:t>
            </a:r>
            <a:endParaRPr lang="en-US" sz="750" dirty="0"/>
          </a:p>
        </p:txBody>
      </p:sp>
      <p:sp>
        <p:nvSpPr>
          <p:cNvPr id="58" name="Shape 49"/>
          <p:cNvSpPr/>
          <p:nvPr/>
        </p:nvSpPr>
        <p:spPr>
          <a:xfrm>
            <a:off x="6629400" y="2542032"/>
            <a:ext cx="1078992" cy="960120"/>
          </a:xfrm>
          <a:prstGeom prst="roundRect">
            <a:avLst>
              <a:gd name="adj" fmla="val 7619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2615184"/>
            <a:ext cx="292608" cy="292608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6629400" y="29260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750" dirty="0"/>
          </a:p>
        </p:txBody>
      </p:sp>
      <p:sp>
        <p:nvSpPr>
          <p:cNvPr id="61" name="Text 51"/>
          <p:cNvSpPr/>
          <p:nvPr/>
        </p:nvSpPr>
        <p:spPr>
          <a:xfrm>
            <a:off x="6766560" y="33009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650" dirty="0"/>
          </a:p>
        </p:txBody>
      </p:sp>
      <p:sp>
        <p:nvSpPr>
          <p:cNvPr id="62" name="Shape 52"/>
          <p:cNvSpPr/>
          <p:nvPr/>
        </p:nvSpPr>
        <p:spPr>
          <a:xfrm>
            <a:off x="7763256" y="2542032"/>
            <a:ext cx="914400" cy="960120"/>
          </a:xfrm>
          <a:prstGeom prst="roundRect">
            <a:avLst>
              <a:gd name="adj" fmla="val 8000"/>
            </a:avLst>
          </a:prstGeom>
          <a:solidFill>
            <a:srgbClr val="1A254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615184"/>
            <a:ext cx="292608" cy="292608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7763256" y="29443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ESXi VMs</a:t>
            </a:r>
            <a:endParaRPr lang="en-US" sz="750" dirty="0"/>
          </a:p>
        </p:txBody>
      </p:sp>
      <p:sp>
        <p:nvSpPr>
          <p:cNvPr id="65" name="Text 54"/>
          <p:cNvSpPr/>
          <p:nvPr/>
        </p:nvSpPr>
        <p:spPr>
          <a:xfrm>
            <a:off x="7818120" y="325526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650" dirty="0"/>
          </a:p>
        </p:txBody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0056" y="3913632"/>
            <a:ext cx="256032" cy="256032"/>
          </a:xfrm>
          <a:prstGeom prst="rect">
            <a:avLst/>
          </a:prstGeom>
        </p:spPr>
      </p:pic>
      <p:sp>
        <p:nvSpPr>
          <p:cNvPr id="67" name="Shape 55"/>
          <p:cNvSpPr/>
          <p:nvPr/>
        </p:nvSpPr>
        <p:spPr>
          <a:xfrm>
            <a:off x="5340096" y="3803904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68" name="Text 56"/>
          <p:cNvSpPr/>
          <p:nvPr/>
        </p:nvSpPr>
        <p:spPr>
          <a:xfrm>
            <a:off x="5340096" y="3803904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69" name="Shape 57"/>
          <p:cNvSpPr/>
          <p:nvPr/>
        </p:nvSpPr>
        <p:spPr>
          <a:xfrm>
            <a:off x="5340096" y="3936492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C6080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70" name="Text 58"/>
          <p:cNvSpPr/>
          <p:nvPr/>
        </p:nvSpPr>
        <p:spPr>
          <a:xfrm>
            <a:off x="5340096" y="3936492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71" name="Shape 59"/>
          <p:cNvSpPr/>
          <p:nvPr/>
        </p:nvSpPr>
        <p:spPr>
          <a:xfrm>
            <a:off x="5340096" y="4069080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72" name="Text 60"/>
          <p:cNvSpPr/>
          <p:nvPr/>
        </p:nvSpPr>
        <p:spPr>
          <a:xfrm>
            <a:off x="5340096" y="4069080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73" name="Shape 61"/>
          <p:cNvSpPr/>
          <p:nvPr/>
        </p:nvSpPr>
        <p:spPr>
          <a:xfrm>
            <a:off x="5340096" y="4201668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C6080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74" name="Text 62"/>
          <p:cNvSpPr/>
          <p:nvPr/>
        </p:nvSpPr>
        <p:spPr>
          <a:xfrm>
            <a:off x="5340096" y="4201668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75" name="Shape 63"/>
          <p:cNvSpPr/>
          <p:nvPr/>
        </p:nvSpPr>
        <p:spPr>
          <a:xfrm>
            <a:off x="5340096" y="4334256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891B2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76" name="Text 64"/>
          <p:cNvSpPr/>
          <p:nvPr/>
        </p:nvSpPr>
        <p:spPr>
          <a:xfrm>
            <a:off x="5340096" y="4334256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77" name="Shape 65"/>
          <p:cNvSpPr/>
          <p:nvPr/>
        </p:nvSpPr>
        <p:spPr>
          <a:xfrm>
            <a:off x="5340096" y="4466844"/>
            <a:ext cx="2377440" cy="118872"/>
          </a:xfrm>
          <a:prstGeom prst="roundRect">
            <a:avLst>
              <a:gd name="adj" fmla="val 23077"/>
            </a:avLst>
          </a:prstGeom>
          <a:solidFill>
            <a:srgbClr val="0C6080"/>
          </a:solidFill>
          <a:ln w="6350">
            <a:solidFill>
              <a:srgbClr val="0D1F40"/>
            </a:solidFill>
            <a:prstDash val="solid"/>
          </a:ln>
        </p:spPr>
      </p:sp>
      <p:sp>
        <p:nvSpPr>
          <p:cNvPr id="78" name="Text 66"/>
          <p:cNvSpPr/>
          <p:nvPr/>
        </p:nvSpPr>
        <p:spPr>
          <a:xfrm>
            <a:off x="5340096" y="4466844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</a:t>
            </a:r>
            <a:endParaRPr lang="en-US" sz="550" dirty="0"/>
          </a:p>
        </p:txBody>
      </p:sp>
      <p:sp>
        <p:nvSpPr>
          <p:cNvPr id="79" name="Text 67"/>
          <p:cNvSpPr/>
          <p:nvPr/>
        </p:nvSpPr>
        <p:spPr>
          <a:xfrm>
            <a:off x="5340096" y="46268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Cohesity Hardware Cluster</a:t>
            </a:r>
            <a:endParaRPr lang="en-US" sz="800" dirty="0"/>
          </a:p>
        </p:txBody>
      </p:sp>
      <p:sp>
        <p:nvSpPr>
          <p:cNvPr id="80" name="Text 68"/>
          <p:cNvSpPr/>
          <p:nvPr/>
        </p:nvSpPr>
        <p:spPr>
          <a:xfrm>
            <a:off x="5340096" y="4828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6-Node Cluster  ·  Immutable Storage</a:t>
            </a:r>
            <a:endParaRPr lang="en-US" sz="700" dirty="0"/>
          </a:p>
        </p:txBody>
      </p:sp>
      <p:sp>
        <p:nvSpPr>
          <p:cNvPr id="81" name="Shape 69"/>
          <p:cNvSpPr/>
          <p:nvPr/>
        </p:nvSpPr>
        <p:spPr>
          <a:xfrm>
            <a:off x="5724144" y="3611880"/>
            <a:ext cx="0" cy="71323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2" name="Text 70"/>
          <p:cNvSpPr/>
          <p:nvPr/>
        </p:nvSpPr>
        <p:spPr>
          <a:xfrm>
            <a:off x="4910328" y="3858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restore</a:t>
            </a:r>
            <a:endParaRPr lang="en-US" sz="650" dirty="0"/>
          </a:p>
        </p:txBody>
      </p:sp>
      <p:sp>
        <p:nvSpPr>
          <p:cNvPr id="83" name="Shape 71"/>
          <p:cNvSpPr/>
          <p:nvPr/>
        </p:nvSpPr>
        <p:spPr>
          <a:xfrm>
            <a:off x="7132320" y="3502152"/>
            <a:ext cx="0" cy="86868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84" name="Shape 72"/>
          <p:cNvSpPr/>
          <p:nvPr/>
        </p:nvSpPr>
        <p:spPr>
          <a:xfrm>
            <a:off x="8220456" y="3502152"/>
            <a:ext cx="0" cy="86868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pic>
        <p:nvPicPr>
          <p:cNvPr id="8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0728" y="4416552"/>
            <a:ext cx="457200" cy="365760"/>
          </a:xfrm>
          <a:prstGeom prst="rect">
            <a:avLst/>
          </a:prstGeom>
        </p:spPr>
      </p:pic>
      <p:sp>
        <p:nvSpPr>
          <p:cNvPr id="86" name="Text 73"/>
          <p:cNvSpPr/>
          <p:nvPr/>
        </p:nvSpPr>
        <p:spPr>
          <a:xfrm>
            <a:off x="8019288" y="47640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87" name="Shape 74"/>
          <p:cNvSpPr/>
          <p:nvPr/>
        </p:nvSpPr>
        <p:spPr>
          <a:xfrm>
            <a:off x="8019288" y="4325112"/>
            <a:ext cx="-594360" cy="3840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ysDot"/>
          </a:ln>
        </p:spPr>
      </p:sp>
      <p:sp>
        <p:nvSpPr>
          <p:cNvPr id="88" name="Shape 75"/>
          <p:cNvSpPr/>
          <p:nvPr/>
        </p:nvSpPr>
        <p:spPr>
          <a:xfrm>
            <a:off x="256032" y="4846320"/>
            <a:ext cx="8631936" cy="256032"/>
          </a:xfrm>
          <a:prstGeom prst="roundRect">
            <a:avLst>
              <a:gd name="adj" fmla="val 21429"/>
            </a:avLst>
          </a:prstGeom>
          <a:solidFill>
            <a:srgbClr val="1A2F5E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9" name="Text 76"/>
          <p:cNvSpPr/>
          <p:nvPr/>
        </p:nvSpPr>
        <p:spPr>
          <a:xfrm>
            <a:off x="347472" y="4855464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━━ </a:t>
            </a:r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Servers (Active Implementation — DataProtect Agent)     </a:t>
            </a:r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</a:t>
            </a:r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Volumes / ESXi VMs (Available — Not Current Scope)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Improvements Across All Key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965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Coverage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Oracle backups protected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1078992"/>
            <a:ext cx="1965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1155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42032" y="18470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Window Reduced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Hours daily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18304" y="1078992"/>
            <a:ext cx="1965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1155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18304" y="18470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Reduction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18304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dedup + compression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94576" y="1078992"/>
            <a:ext cx="1965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1115568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94576" y="18470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Hydrated Full Snapshots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94576" y="21762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weekly fulls previously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724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Comparison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08960"/>
          <a:ext cx="8412480" cy="187452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383280"/>
              </a:tblGrid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(NFS)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(Cohesity)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 — writable NFS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WORM-locked retention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Full 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Incremental + Hydrated 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days (weekly)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(daily incremental)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— no dedup/compress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dedup + LZ4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(Recovery Point)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7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24 hours (daily snapshot)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 Defense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— cannot be encrypted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2004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Complete — What's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Key Wins Delivered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Ransomware-proof immutable backups for all Oracle databases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window reduced from days to hours with daily incrementals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produces a ready-to-restore hydrated full snapshot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reduction in storage consumption via dedup and compression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DataProtect Agent method — agentless-level simplicity with full control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78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Recommended Next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1A2F5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087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56362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Recovery
</a:t>
            </a:r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and granular restore tests on non-prod Oracle instances to confirm RTO targets.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313432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1A2F5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236829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Retention Policy
</a:t>
            </a:r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backup retention periods with compliance and audit requirements.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118104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1A2F5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181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317296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
</a:t>
            </a:r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Cohesity alerts and integrate with existing monitoring dashboards (ServiceNow / PagerDuty).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922776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1A2F5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92277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49240" y="39776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DBs
</a:t>
            </a:r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Cohesity coverage for SQL Server, PostgreSQL, and other critical workloads.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805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Status: ✅ COMPLETE  ·  Platform: Cohesity DataProtect Agent  ·  Scope: All Oracle Databases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Cohesity Oracle Backup Implementation</dc:title>
  <dc:subject>PptxGenJS Presentation</dc:subject>
  <dc:creator>PptxGenJS</dc:creator>
  <cp:lastModifiedBy>PptxGenJS</cp:lastModifiedBy>
  <cp:revision>1</cp:revision>
  <dcterms:created xsi:type="dcterms:W3CDTF">2026-06-23T20:11:51Z</dcterms:created>
  <dcterms:modified xsi:type="dcterms:W3CDTF">2026-06-23T20:11:51Z</dcterms:modified>
</cp:coreProperties>
</file>